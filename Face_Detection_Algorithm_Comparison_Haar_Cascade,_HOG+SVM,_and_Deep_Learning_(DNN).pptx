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1375004"/>
            <a:ext cx="85725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COMPARATIVE ANALYSIS OF FACE DETECTION ALGORITHMS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852017" y="3230063"/>
            <a:ext cx="543996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Evaluating Performance, Accuracy, and Efficiency</a:t>
            </a:r>
            <a:endParaRPr lang="en-US" sz="170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459" y="3765845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597771" y="3749771"/>
            <a:ext cx="216277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Face Detection Research Team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 TO METHODOLOGIES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79448"/>
            <a:ext cx="3857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OBJECTIVE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240207"/>
            <a:ext cx="38576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study evaluates three fundamental approaches to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face detection: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Haar Cascade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HOG + SVM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and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 Learning (DNN)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We aim to provide a definitive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benchmark for real-world deployment.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3611807"/>
            <a:ext cx="3857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DATASET CONTEXT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3972567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Testing was conducted on a large-scale dataset of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914 images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featuring diverse lighting conditions and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challenging poses.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14875" y="1879448"/>
            <a:ext cx="3857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EVALUATION METRICS</a:t>
            </a:r>
            <a:endParaRPr lang="en-US" sz="1193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2200917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86350" y="2209847"/>
            <a:ext cx="10787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Precision &amp; Recall</a:t>
            </a:r>
            <a:endParaRPr lang="en-US" sz="88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2504526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86350" y="2513456"/>
            <a:ext cx="178058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F1-Score (Accuracy Balance)</a:t>
            </a:r>
            <a:endParaRPr lang="en-US" sz="88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2808136"/>
            <a:ext cx="128588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86350" y="2817065"/>
            <a:ext cx="165913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Computational Speed (ms)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4714875" y="3408211"/>
            <a:ext cx="3857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SIGNIFICANCE</a:t>
            </a:r>
            <a:endParaRPr lang="en-US" sz="1193" dirty="0"/>
          </a:p>
        </p:txBody>
      </p:sp>
      <p:sp>
        <p:nvSpPr>
          <p:cNvPr id="16" name="Text 10"/>
          <p:cNvSpPr/>
          <p:nvPr/>
        </p:nvSpPr>
        <p:spPr>
          <a:xfrm>
            <a:off x="4714875" y="3768970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Understanding these trade-offs is critical for deploying vision systems on various hardware, from low-power mobile devices to high-end workstations.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HAAR CASCADE: THE SPEED PIONEER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79448"/>
            <a:ext cx="3857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MECHANISM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240207"/>
            <a:ext cx="38576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Utilizes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Haar-like features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an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AdaBoost-based cascade classifier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It scans images with a sliding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window, rejecting non-face regions early to save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computation.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3611807"/>
            <a:ext cx="3857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ADVANTAGE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3972567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Extremely fast performance on CPU, making it the go-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choice for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mobile applications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legacy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hardware.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14875" y="1879448"/>
            <a:ext cx="3857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LIMITATION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714875" y="2240207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Suffers from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higher false-positive rates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compared to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modern methods. It is sensitive to lighting and head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orientation.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14875" y="3068882"/>
            <a:ext cx="3857625" cy="1521619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1" name="Shape 8"/>
          <p:cNvSpPr/>
          <p:nvPr/>
        </p:nvSpPr>
        <p:spPr>
          <a:xfrm>
            <a:off x="4714875" y="3068882"/>
            <a:ext cx="28575" cy="1521619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9"/>
          <p:cNvSpPr/>
          <p:nvPr/>
        </p:nvSpPr>
        <p:spPr>
          <a:xfrm>
            <a:off x="4857750" y="3340345"/>
            <a:ext cx="35718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 SNAPSHOT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857750" y="3611807"/>
            <a:ext cx="17145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1.00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4857750" y="3902915"/>
            <a:ext cx="1714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RECALL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6715125" y="3611807"/>
            <a:ext cx="17145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0.93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6715125" y="3902915"/>
            <a:ext cx="1714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PRECISION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4857750" y="4172592"/>
            <a:ext cx="17145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38.15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4857750" y="4463700"/>
            <a:ext cx="1714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AVG TIME (MS)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6715125" y="4172592"/>
            <a:ext cx="17145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0.96</a:t>
            </a:r>
            <a:endParaRPr lang="en-US" sz="1602" dirty="0"/>
          </a:p>
        </p:txBody>
      </p:sp>
      <p:sp>
        <p:nvSpPr>
          <p:cNvPr id="20" name="Text 17"/>
          <p:cNvSpPr/>
          <p:nvPr/>
        </p:nvSpPr>
        <p:spPr>
          <a:xfrm>
            <a:off x="6715125" y="4463700"/>
            <a:ext cx="1714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F1-SCORE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HOG + LINEAR SVM: THE BALANCED PERFORMER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707998"/>
            <a:ext cx="1389459" cy="183952"/>
          </a:xfrm>
          <a:prstGeom prst="rect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707998"/>
            <a:ext cx="1389459" cy="18395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OVERALL PERFORMER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2134837"/>
            <a:ext cx="3857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MECHANISM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495597"/>
            <a:ext cx="38576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Extracts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Histogram of Oriented Gradients (HOG)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to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capture edge directions and local shape information. A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Linear SVM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classifier then distinguishes faces from the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background.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867197"/>
            <a:ext cx="3857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ADVANTAGE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4227956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Offers the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best balance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between processing speed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detection accuracy, making it highly efficient for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general-purpose computing.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14875" y="1879448"/>
            <a:ext cx="3857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ROBUSTNESS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714875" y="2240207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Highly resilient to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varying illumination conditions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It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maintains consistent performance where simpler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methods like Haar Cascade often fail.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14875" y="3068882"/>
            <a:ext cx="3857625" cy="1443038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3" name="Shape 10"/>
          <p:cNvSpPr/>
          <p:nvPr/>
        </p:nvSpPr>
        <p:spPr>
          <a:xfrm>
            <a:off x="4714875" y="3068882"/>
            <a:ext cx="3857625" cy="14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857750" y="3340345"/>
            <a:ext cx="35718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BENCHMARK RESULTS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857750" y="3611807"/>
            <a:ext cx="178593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0.98</a:t>
            </a:r>
            <a:endParaRPr lang="en-US" sz="1808" dirty="0"/>
          </a:p>
        </p:txBody>
      </p:sp>
      <p:sp>
        <p:nvSpPr>
          <p:cNvPr id="16" name="Text 13"/>
          <p:cNvSpPr/>
          <p:nvPr/>
        </p:nvSpPr>
        <p:spPr>
          <a:xfrm>
            <a:off x="4857750" y="3940420"/>
            <a:ext cx="17859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F1-SCORE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6643688" y="3611807"/>
            <a:ext cx="178593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31.20</a:t>
            </a:r>
            <a:endParaRPr lang="en-US" sz="1808" dirty="0"/>
          </a:p>
        </p:txBody>
      </p:sp>
      <p:sp>
        <p:nvSpPr>
          <p:cNvPr id="18" name="Text 15"/>
          <p:cNvSpPr/>
          <p:nvPr/>
        </p:nvSpPr>
        <p:spPr>
          <a:xfrm>
            <a:off x="6643688" y="3940420"/>
            <a:ext cx="17859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 (MS)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4857750" y="4252959"/>
            <a:ext cx="178593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0.96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4857750" y="4470843"/>
            <a:ext cx="178593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PRECISION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6643688" y="4252959"/>
            <a:ext cx="178593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0.99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6643688" y="4470843"/>
            <a:ext cx="178593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RECALL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 LEARNING (DNN): THE ACCURACY POWERHOUSE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2317003"/>
            <a:ext cx="3857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MECHANISM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677762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Employs a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Single Shot Detector (SSD)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with a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ResNet backbone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for deep feature extraction. It uses neural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networks to learn hierarchical representations of faces.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3820762"/>
            <a:ext cx="3857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ADVANTAGE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4181522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Superior performance in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challenging poses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complex environments. It is highly robust to occlusions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extreme lighting variations.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14875" y="2317003"/>
            <a:ext cx="3857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TRADE-OFF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714875" y="2677762"/>
            <a:ext cx="38576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Requires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significant computational power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(GPU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recommended). It is the slowest algorithm in our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benchmark, making it less suitable for low-power edge </a:t>
            </a: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devices.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14875" y="3735037"/>
            <a:ext cx="3857625" cy="1521619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1" name="Shape 8"/>
          <p:cNvSpPr/>
          <p:nvPr/>
        </p:nvSpPr>
        <p:spPr>
          <a:xfrm>
            <a:off x="4714875" y="3735037"/>
            <a:ext cx="28575" cy="1521619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9"/>
          <p:cNvSpPr/>
          <p:nvPr/>
        </p:nvSpPr>
        <p:spPr>
          <a:xfrm>
            <a:off x="4857750" y="4006500"/>
            <a:ext cx="35718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 SNAPSHOT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857750" y="4277962"/>
            <a:ext cx="17145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1.00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4857750" y="4569070"/>
            <a:ext cx="1714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RECALL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6715125" y="4277962"/>
            <a:ext cx="17145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0.90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6715125" y="4569070"/>
            <a:ext cx="1714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PRECISION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4857750" y="4838747"/>
            <a:ext cx="17145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45.85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4857750" y="5129854"/>
            <a:ext cx="1714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AVG TIME (MS)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6715125" y="4838747"/>
            <a:ext cx="17145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0.95</a:t>
            </a:r>
            <a:endParaRPr lang="en-US" sz="1602" dirty="0"/>
          </a:p>
        </p:txBody>
      </p:sp>
      <p:sp>
        <p:nvSpPr>
          <p:cNvPr id="20" name="Text 17"/>
          <p:cNvSpPr/>
          <p:nvPr/>
        </p:nvSpPr>
        <p:spPr>
          <a:xfrm>
            <a:off x="6715125" y="5129854"/>
            <a:ext cx="1714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F1-SCORE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DATASET &amp; TESTING ENVIRONMENT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93736"/>
            <a:ext cx="378618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 &amp; DIVERSITY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218776"/>
            <a:ext cx="74652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914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425178" y="2463450"/>
            <a:ext cx="9501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IMAGES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818851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benchmark utilizes a comprehensive dataset designed to simulate real-world variability.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508223"/>
            <a:ext cx="142875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85850" y="3490364"/>
            <a:ext cx="173950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Variable Lighting Conditions</a:t>
            </a:r>
            <a:endParaRPr lang="en-US" sz="94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758254"/>
            <a:ext cx="142875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5850" y="3740395"/>
            <a:ext cx="147161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Multiple Face Scenarios</a:t>
            </a:r>
            <a:endParaRPr lang="en-US" sz="942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08286"/>
            <a:ext cx="142875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5850" y="3990426"/>
            <a:ext cx="176272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Diverse Head Poses &amp; Angles</a:t>
            </a:r>
            <a:endParaRPr lang="en-US" sz="942" dirty="0"/>
          </a:p>
        </p:txBody>
      </p:sp>
      <p:sp>
        <p:nvSpPr>
          <p:cNvPr id="14" name="Text 8"/>
          <p:cNvSpPr/>
          <p:nvPr/>
        </p:nvSpPr>
        <p:spPr>
          <a:xfrm>
            <a:off x="4786313" y="1893736"/>
            <a:ext cx="378618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TESTING RIGOR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4786313" y="2254495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ensure a fair comparison, all algorithms were executed in a strictly controlled environment.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4786313" y="3126032"/>
            <a:ext cx="37861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HARDWARE CONSISTENCY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4786313" y="3418926"/>
            <a:ext cx="37861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tests were performed on identical hardware to eliminate CPU/GPU variance in processing time measurements.</a:t>
            </a:r>
            <a:endParaRPr lang="en-US" sz="942" dirty="0"/>
          </a:p>
        </p:txBody>
      </p:sp>
      <p:sp>
        <p:nvSpPr>
          <p:cNvPr id="18" name="Text 12"/>
          <p:cNvSpPr/>
          <p:nvPr/>
        </p:nvSpPr>
        <p:spPr>
          <a:xfrm>
            <a:off x="4786313" y="4230412"/>
            <a:ext cx="37861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STATISTICAL RELIABILITY</a:t>
            </a:r>
            <a:endParaRPr lang="en-US" sz="885" dirty="0"/>
          </a:p>
        </p:txBody>
      </p:sp>
      <p:sp>
        <p:nvSpPr>
          <p:cNvPr id="19" name="Text 13"/>
          <p:cNvSpPr/>
          <p:nvPr/>
        </p:nvSpPr>
        <p:spPr>
          <a:xfrm>
            <a:off x="4786313" y="4523305"/>
            <a:ext cx="37861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large sample size (n=914) ensures that the recorded metrics are statistically significant for general-purpose vision applications.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COMPARATIVE PERFORMANCE RESULTS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722286"/>
            <a:ext cx="1496504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2068004" y="1722286"/>
            <a:ext cx="839530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PRECISION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2907534" y="1722286"/>
            <a:ext cx="671261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RECALL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3578796" y="1722286"/>
            <a:ext cx="796584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F1-SCORE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375379" y="1722286"/>
            <a:ext cx="825271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 (MS)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71500" y="2108048"/>
            <a:ext cx="1496504" cy="3893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HOG_SVM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2068004" y="2108048"/>
            <a:ext cx="839530" cy="3893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0.96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2907534" y="2108048"/>
            <a:ext cx="671261" cy="3893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0.99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578796" y="2108048"/>
            <a:ext cx="796584" cy="3893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0.98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375379" y="2108048"/>
            <a:ext cx="825271" cy="3893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31.20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571500" y="2497382"/>
            <a:ext cx="4629150" cy="385763"/>
          </a:xfrm>
          <a:prstGeom prst="rect">
            <a:avLst/>
          </a:prstGeom>
          <a:solidFill>
            <a:srgbClr val="1C2541">
              <a:alpha val="3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2497382"/>
            <a:ext cx="1496504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Haar_Cascade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2068004" y="2497382"/>
            <a:ext cx="839530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0.93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2907534" y="2497382"/>
            <a:ext cx="671261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1.00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3578796" y="2497382"/>
            <a:ext cx="796584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0.96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375379" y="2497382"/>
            <a:ext cx="825271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38.15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71500" y="2883145"/>
            <a:ext cx="1496504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Deep_Learning_DNN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2068004" y="2883145"/>
            <a:ext cx="839530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0.90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2907534" y="2883145"/>
            <a:ext cx="671261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1.00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3578796" y="2883145"/>
            <a:ext cx="796584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0.95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4375379" y="2883145"/>
            <a:ext cx="825271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45.85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571500" y="3779686"/>
            <a:ext cx="46291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OBSERVATION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571500" y="4076151"/>
            <a:ext cx="4629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HOG_SVM</a:t>
            </a:r>
            <a:r>
              <a:rPr lang="en-US" sz="834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achieved the best overall performance with an F1-Score of 0.98 and the </a:t>
            </a:r>
            <a:r>
              <a:rPr lang="en-US" sz="834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fastest processing time. Both </a:t>
            </a:r>
            <a:r>
              <a:rPr lang="en-US" sz="834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Haar Cascade</a:t>
            </a:r>
            <a:r>
              <a:rPr lang="en-US" sz="834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</a:t>
            </a:r>
            <a:r>
              <a:rPr lang="en-US" sz="834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DNN</a:t>
            </a:r>
            <a:r>
              <a:rPr lang="en-US" sz="834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achieved perfect Recall (1.00), </a:t>
            </a:r>
            <a:r>
              <a:rPr lang="en-US" sz="834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ensuring zero missed faces.</a:t>
            </a:r>
            <a:endParaRPr lang="en-US" sz="834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22286"/>
            <a:ext cx="3086100" cy="2500313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86400" y="4365473"/>
            <a:ext cx="308610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Visualizing the trade-off between Accuracy (F1) and Speed (ms).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STRATEGIC RECOMMENDATIONS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465111"/>
            <a:ext cx="39647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BEST FOR GENERAL USE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1791937"/>
            <a:ext cx="3964781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HOG + SVM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571500" y="2175914"/>
            <a:ext cx="396478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Recommended for PC-based applications where a superior balance of speed (31.2ms) and precision (0.96) is paramount.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607719" y="1465111"/>
            <a:ext cx="39647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BEST FOR COMPLEX SCENARIOS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607719" y="1791937"/>
            <a:ext cx="3964781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 Learning (DNN)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4607719" y="2175914"/>
            <a:ext cx="396478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superior choice for maximum recall in unconstrained environments where computational power is not a constraint.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2781681"/>
            <a:ext cx="39647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BEST FOR MOBILE &amp; EDGE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571500" y="3108508"/>
            <a:ext cx="3964781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Haar Cascade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571500" y="3492484"/>
            <a:ext cx="396478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Remains highly relevant for low-power devices and legacy systems requiring real-time performance on CPU.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607719" y="2781681"/>
            <a:ext cx="39647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INSIGHT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607719" y="3108508"/>
            <a:ext cx="3964781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Accuracy vs. Speed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4607719" y="3492484"/>
            <a:ext cx="396478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A0AE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Both Haar and DNN achieved 100% recall, ensuring no faces were missed, though at different computational costs.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0" y="4026815"/>
            <a:ext cx="9144000" cy="10644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0" y="4026815"/>
            <a:ext cx="9144000" cy="2857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4283990"/>
            <a:ext cx="800100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FINAL VERDICT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571500" y="4659037"/>
            <a:ext cx="8001000" cy="403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"Algorithm selection must be driven by the specific constraints of the target hardware and the environmental complexity of the deployment scenario."</a:t>
            </a:r>
            <a:endParaRPr lang="en-US" sz="115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2026-04-07T19:09:58Z</dcterms:created>
  <dcterms:modified xsi:type="dcterms:W3CDTF">2026-04-07T19:09:58Z</dcterms:modified>
</cp:coreProperties>
</file>